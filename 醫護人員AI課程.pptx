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大家好。今天不講太多理論，我們就拿一份大家很熟悉的東西來練習：科內每個月發的教學活動 PDF，裡面有值班表、課表、會議時間、聯絡電話。
今天的目標很簡單：用打字的方式跟 AI 對話，讓它幫我們查資料、整理表格、抓錯、寫文件。不用會寫程式，會打字就可以。
先提醒一下，這份 PDF 已經做過去識別化，人名中間的字都換成圓圈，員工代號也遮掉了，所以大家看到「陳○佑」這種寫法是正常的。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今天會做這六件事，難度大概是由淺到深。
前面三個是「讀」：查資料、整理成表格、抓錯。後面兩個是「寫」：Word 跟簡報。最後一個最重要，是界線，也就是什麼資料可以給 AI、什麼絕對不行。
每個單元都是一樣的流程：我先講一下要做什麼，大家自己動手打，再一起對答案。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教材就這一份，七頁。第一頁是病房的值班表，第六頁是 CCU 的工作分配，這兩張表是不同的人，等一下會考。
有一個小地方先講：這份 PDF 每頁下面印的頁碼，跟 PDF 本身的頁數不一樣。所以 AI 跟你說「在第 11 頁」，其實可能是 PDF 的第 4 頁。對答案的時候要先確認它說的是哪一種。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拿教材有兩種方法。會用 git 的同學直接 clone；不會的也沒關係，到 GitHub 頁面按綠色的 Code，選 Download ZIP，下載下來解壓縮就好。
拿到之後，用你手上的 AI 工具打開這個資料夾。我們預設大家的 AI 已經裝好讀 PDF、做 Excel、Word、PPT 的功能。如果你用的 AI 做不出檔案也沒關係，叫它直接給你表格或文字，複製貼上就可以。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這句話請大家直接複製貼上。它做了三件事。
第一，告訴 AI 要看哪一份檔案。如果你的工具是上傳附件的，就先上傳再貼這句，前面的 @ 那段拿掉。
第二，叫它每次都附頁碼。這樣之後它講什麼，我們都能翻回原文對。
第三，叫它不要看資料夾裡別的檔案。因為課程檔裡就有標準答案，AI 偷看的話，我們等一下的練習就沒意義了。
還有，開新的對話 AI 會全部忘光，記得重新講一次。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今天只要記這三件事。
說清楚：你要什麼、給誰看、要什麼格式、多長。跟交代學弟妹做事一樣，講越清楚越不用重做。
要出處：每個答案都追問「在第幾頁、原文怎麼寫」。
要核對：AI 最可怕的不是不知道，而是答錯了還講得很有自信。特別是表格，等一下大家就會親眼看到。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暖身兩題，大家先打打看。
第一題看 AI 能不能抓到重點：這是 CCU 每個月的排班跟教學文件。
第二題要把「護理師」換成你自己的職稱。護理師會得到的答案大概是：聯絡人、病例討論會要參與補充、簡報要存在護理站電腦、還有特殊護理紀錄。重點是學會先說自己是誰。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查資料這個單元只做兩題，但這兩題剛好是 AI 最常出錯的兩種情況。
1-1：答案是蘇○正醫師，但原文根本沒寫聯絡方式。如果 AI 給了你一個號碼，那就是它編的，這就是所謂的幻覺。
1-2 先讓大家自己問，下一頁我們一起對答案。
記得每題都追問「在第幾頁、原文怎麼寫」。其他查詢的題目放在課程檔最後的課後練習，有興趣可以自己做。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大家看一下自己的 AI 說誰。
（等大家回答）
有人拿到林○均嗎？那是 12/3 的人，AI 對錯欄了。正確答案是陳○佑，代號 A。
現在請大家打開 PDF 第 6 頁，找到 12/2 那一欄，自己對一次。這就是我說的「要核對」。AI 不會每次都錯，但你不知道它哪一次錯，所以重要的東西一定要自己看一眼。
如果你的 AI 這次答對了也很好，可以追問它「在第幾頁、原文怎麼寫」，看它講不講得出來。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這個單元要做出真的 Excel 檔。
2-1 做完之後，請大家自己挑三天，打開 PDF 對對看。課程檔最後的附錄 A 有完整答案。
2-2 正確應該是 22 場，答案在附錄 B。常見的漏法：漏掉 12/15 王○庭的課、12/04 黃○杰的課；還有同一堂課上兩次的，像 ECG 在 12/8 跟 12/22、OHCA 在 12/11 跟 12/18，AI 常常只列一次。
重點就是：AI 負責做，我們負責驗收。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 PDF 本身就有錯，這是 AI 很好用的地方：幫你當第二雙眼睛。
12 月的課表裡，有 12 堂課的日期寫的是 10 月，大概是上個月的表沒改乾淨。另外有 5 堂課還沒確定時間，還有一個時段撞課。
先用 3-1 試試看，看 AI 能找到幾堂。這句提示詞每個月都能重複用，這就是把例行檢查交給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這題要跨兩頁對照，人工做很花時間，AI 很快。
同一位主治、同一個時段，兩頁的日期卻差了一天或一週。但是兩頁寫的報告人不一樣，也可能根本是兩場不同的會。
所以這裡要強調：AI 找出來的是疑點，不是結論。到底是誰寫錯，要問教學總醫師才知道。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這個單元要練習「把話說清楚」：給誰看、什麼格式、多長。
4-1 做完先檢查兩件事：有沒有超過一頁、電話號碼對不對。
4-2 是可以帶回單位用的模板。完整的提示詞在課程檔裡，欄位包括：診斷與入 CCU 原因、入 CCU 時跟現在的比較、重要護理問題與措施、病程轉折點的觀察、家屬溝通與 SDM、還有護理端想問的問題。模板只有空白欄位，不放病人資料。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簡報這段比較快。5-1 做一份新人導覽，5-2 把剛剛抓到的問題整理給教學總醫師看。注意 5-2 我們要它語氣客氣，因為是給別人看的，這也是「說清楚對象」的練習。
AI 做出來的簡報一定要自己看過。尤其數字、日期、人名，跟原文對過再拿去用。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這頁先出題目，一題一題問大家：這個可以貼進雲端 AI 嗎？大家舉手。六題問完再一題一題公布答案。
值班表、虛構病例、單位 SOP：原則上可以，但還是要看院內規定，值班表上面有同仁的名字。
真實的病歷、護理紀錄：不行。
第五題是重點：把姓名刪掉，但病歷號、床號還在，這樣還是認得出是誰。刪掉姓名不等於去識別化。
心電圖、X 光截圖也不行，影像上常常印著病人資料。
真的要處理病人資料，只能用院內核准、資料不會離開醫院的系統。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這一段我來示範，大家看就好。
想練習臨床的東西，又不能用真的病人，怎麼辦？很簡單，叫 AI 自己編一個。第一步請它虛構一位病人，寫一段晨會時護理師的補充；第二步請它整理重點跟待辦。
課後練習還有一題：把這個虛構病例填進 4-2 做的護理紀錄摘要模板。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時間夠的話做這個。7-1 一句話叫 AI 同時做三件事。
7-2 比較有意思：叫 AI 把今天的檢查步驟寫成清單，下個月新的 PDF 來了，直接把清單貼給它就好。不用寫程式，這就是最簡單的自動化。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最後再講一次：說清楚、要出處、要核對。
AI 一定會答錯，這不可怕；可怕的是沒有核對就拿去用。今天練習的提示詞都在課程檔裡，最後面還有 19 題課後練習，回去可以拿自己單位的文件試試看，但記得：病人資料不要放進雲端 AI。
謝謝大家，有問題現在可以問。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alt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zh-TW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altLang="en-US" sz="22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zh-TW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zh-TW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zh-TW" alt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用一份 PDF</a:t>
            </a:r>
            <a:endParaRPr lang="zh-TW" sz="4800" dirty="0"/>
          </a:p>
          <a:p>
            <a:pPr algn="l" indent="0" marL="0">
              <a:buNone/>
            </a:pPr>
            <a:r>
              <a:rPr lang="zh-TW" alt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學會跟 AI 合作</a:t>
            </a:r>
            <a:endParaRPr lang="zh-TW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zh-TW" altLang="en-US" sz="22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醫護人員 AI 實作課程</a:t>
            </a:r>
            <a:endParaRPr lang="zh-TW" sz="2200" dirty="0"/>
          </a:p>
        </p:txBody>
      </p:sp>
      <p:sp>
        <p:nvSpPr>
          <p:cNvPr id="4" name="g1_src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教材：114 年 12 月 CCU 教學活動（去識別化版）</a:t>
            </a:r>
            <a:endParaRPr lang="zh-TW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今天會做的六件事</a:t>
            </a:r>
            <a:endParaRPr lang="zh-TW" sz="3400" dirty="0"/>
          </a:p>
        </p:txBody>
      </p:sp>
      <p:sp>
        <p:nvSpPr>
          <p:cNvPr id="3" name="g1_card"/>
          <p:cNvSpPr/>
          <p:nvPr/>
        </p:nvSpPr>
        <p:spPr>
          <a:xfrm>
            <a:off x="54864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g1_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1_icon" descr="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374904" cy="374904"/>
          </a:xfrm>
          <a:prstGeom prst="rect">
            <a:avLst/>
          </a:prstGeom>
        </p:spPr>
      </p:pic>
      <p:sp>
        <p:nvSpPr>
          <p:cNvPr id="6" name="g1_head"/>
          <p:cNvSpPr txBox="1"/>
          <p:nvPr/>
        </p:nvSpPr>
        <p:spPr>
          <a:xfrm>
            <a:off x="82296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</a:t>
            </a:r>
            <a:endParaRPr lang="zh-TW" sz="2000" dirty="0"/>
          </a:p>
        </p:txBody>
      </p:sp>
      <p:sp>
        <p:nvSpPr>
          <p:cNvPr id="7" name="g1_body"/>
          <p:cNvSpPr txBox="1"/>
          <p:nvPr/>
        </p:nvSpPr>
        <p:spPr>
          <a:xfrm>
            <a:off x="822960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 PDF 問題，順便練習要出處</a:t>
            </a:r>
            <a:endParaRPr lang="zh-TW" sz="1500" dirty="0"/>
          </a:p>
        </p:txBody>
      </p:sp>
      <p:sp>
        <p:nvSpPr>
          <p:cNvPr id="8" name="g2_card"/>
          <p:cNvSpPr/>
          <p:nvPr/>
        </p:nvSpPr>
        <p:spPr>
          <a:xfrm>
            <a:off x="429768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g2_circle"/>
          <p:cNvSpPr/>
          <p:nvPr/>
        </p:nvSpPr>
        <p:spPr>
          <a:xfrm>
            <a:off x="45720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2_icon" descr="整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92808"/>
            <a:ext cx="374904" cy="374904"/>
          </a:xfrm>
          <a:prstGeom prst="rect">
            <a:avLst/>
          </a:prstGeom>
        </p:spPr>
      </p:pic>
      <p:sp>
        <p:nvSpPr>
          <p:cNvPr id="11" name="g2_head"/>
          <p:cNvSpPr txBox="1"/>
          <p:nvPr/>
        </p:nvSpPr>
        <p:spPr>
          <a:xfrm>
            <a:off x="457200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</a:t>
            </a:r>
            <a:endParaRPr lang="zh-TW" sz="2000" dirty="0"/>
          </a:p>
        </p:txBody>
      </p:sp>
      <p:sp>
        <p:nvSpPr>
          <p:cNvPr id="12" name="g2_body"/>
          <p:cNvSpPr txBox="1"/>
          <p:nvPr/>
        </p:nvSpPr>
        <p:spPr>
          <a:xfrm>
            <a:off x="4572000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把表格變成 Excel</a:t>
            </a:r>
            <a:endParaRPr lang="zh-TW" sz="1500" dirty="0"/>
          </a:p>
        </p:txBody>
      </p:sp>
      <p:sp>
        <p:nvSpPr>
          <p:cNvPr id="13" name="g3_card"/>
          <p:cNvSpPr/>
          <p:nvPr/>
        </p:nvSpPr>
        <p:spPr>
          <a:xfrm>
            <a:off x="804672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g3_circle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3_icon" descr="抓錯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892808"/>
            <a:ext cx="374904" cy="374904"/>
          </a:xfrm>
          <a:prstGeom prst="rect">
            <a:avLst/>
          </a:prstGeom>
        </p:spPr>
      </p:pic>
      <p:sp>
        <p:nvSpPr>
          <p:cNvPr id="16" name="g3_head"/>
          <p:cNvSpPr txBox="1"/>
          <p:nvPr/>
        </p:nvSpPr>
        <p:spPr>
          <a:xfrm>
            <a:off x="832104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抓錯</a:t>
            </a:r>
            <a:endParaRPr lang="zh-TW" sz="2000" dirty="0"/>
          </a:p>
        </p:txBody>
      </p:sp>
      <p:sp>
        <p:nvSpPr>
          <p:cNvPr id="17" name="g3_body"/>
          <p:cNvSpPr txBox="1"/>
          <p:nvPr/>
        </p:nvSpPr>
        <p:spPr>
          <a:xfrm>
            <a:off x="8321040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找文件裡的錯誤和矛盾</a:t>
            </a:r>
            <a:endParaRPr lang="zh-TW" sz="1500" dirty="0"/>
          </a:p>
        </p:txBody>
      </p:sp>
      <p:sp>
        <p:nvSpPr>
          <p:cNvPr id="18" name="g4_card"/>
          <p:cNvSpPr/>
          <p:nvPr/>
        </p:nvSpPr>
        <p:spPr>
          <a:xfrm>
            <a:off x="548640" y="39776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g4_circle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g4_icon" descr="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407408"/>
            <a:ext cx="374904" cy="374904"/>
          </a:xfrm>
          <a:prstGeom prst="rect">
            <a:avLst/>
          </a:prstGeom>
        </p:spPr>
      </p:pic>
      <p:sp>
        <p:nvSpPr>
          <p:cNvPr id="21" name="g4_head"/>
          <p:cNvSpPr txBox="1"/>
          <p:nvPr/>
        </p:nvSpPr>
        <p:spPr>
          <a:xfrm>
            <a:off x="82296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zh-TW" sz="2000" dirty="0"/>
          </a:p>
        </p:txBody>
      </p:sp>
      <p:sp>
        <p:nvSpPr>
          <p:cNvPr id="22" name="g4_body"/>
          <p:cNvSpPr txBox="1"/>
          <p:nvPr/>
        </p:nvSpPr>
        <p:spPr>
          <a:xfrm>
            <a:off x="822960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產出可以直接用的 Word 文件</a:t>
            </a:r>
            <a:endParaRPr lang="zh-TW" sz="1500" dirty="0"/>
          </a:p>
        </p:txBody>
      </p:sp>
      <p:sp>
        <p:nvSpPr>
          <p:cNvPr id="23" name="g5_card"/>
          <p:cNvSpPr/>
          <p:nvPr/>
        </p:nvSpPr>
        <p:spPr>
          <a:xfrm>
            <a:off x="4297680" y="39776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4" name="g5_circle"/>
          <p:cNvSpPr/>
          <p:nvPr/>
        </p:nvSpPr>
        <p:spPr>
          <a:xfrm>
            <a:off x="4572000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g5_icon" descr="簡報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407408"/>
            <a:ext cx="374904" cy="374904"/>
          </a:xfrm>
          <a:prstGeom prst="rect">
            <a:avLst/>
          </a:prstGeom>
        </p:spPr>
      </p:pic>
      <p:sp>
        <p:nvSpPr>
          <p:cNvPr id="26" name="g5_head"/>
          <p:cNvSpPr txBox="1"/>
          <p:nvPr/>
        </p:nvSpPr>
        <p:spPr>
          <a:xfrm>
            <a:off x="457200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</a:t>
            </a:r>
            <a:endParaRPr lang="zh-TW" sz="2000" dirty="0"/>
          </a:p>
        </p:txBody>
      </p:sp>
      <p:sp>
        <p:nvSpPr>
          <p:cNvPr id="27" name="g5_body"/>
          <p:cNvSpPr txBox="1"/>
          <p:nvPr/>
        </p:nvSpPr>
        <p:spPr>
          <a:xfrm>
            <a:off x="4572000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幾句話做出簡報草稿</a:t>
            </a:r>
            <a:endParaRPr lang="zh-TW" sz="1500" dirty="0"/>
          </a:p>
        </p:txBody>
      </p:sp>
      <p:sp>
        <p:nvSpPr>
          <p:cNvPr id="28" name="g6_card"/>
          <p:cNvSpPr/>
          <p:nvPr/>
        </p:nvSpPr>
        <p:spPr>
          <a:xfrm>
            <a:off x="8046720" y="39776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9" name="g6_circle"/>
          <p:cNvSpPr/>
          <p:nvPr/>
        </p:nvSpPr>
        <p:spPr>
          <a:xfrm>
            <a:off x="8321040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g6_icon" descr="界線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407408"/>
            <a:ext cx="374904" cy="374904"/>
          </a:xfrm>
          <a:prstGeom prst="rect">
            <a:avLst/>
          </a:prstGeom>
        </p:spPr>
      </p:pic>
      <p:sp>
        <p:nvSpPr>
          <p:cNvPr id="31" name="g6_head"/>
          <p:cNvSpPr txBox="1"/>
          <p:nvPr/>
        </p:nvSpPr>
        <p:spPr>
          <a:xfrm>
            <a:off x="832104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界線</a:t>
            </a:r>
            <a:endParaRPr lang="zh-TW" sz="2000" dirty="0"/>
          </a:p>
        </p:txBody>
      </p:sp>
      <p:sp>
        <p:nvSpPr>
          <p:cNvPr id="32" name="g6_body"/>
          <p:cNvSpPr txBox="1"/>
          <p:nvPr/>
        </p:nvSpPr>
        <p:spPr>
          <a:xfrm>
            <a:off x="8321040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哪些資料絕對不能給 AI</a:t>
            </a:r>
            <a:endParaRPr lang="zh-TW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教材只有一份 PDF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課前須知</a:t>
            </a:r>
            <a:endParaRPr lang="zh-TW" sz="1400" dirty="0"/>
          </a:p>
        </p:txBody>
      </p:sp>
      <p:sp>
        <p:nvSpPr>
          <p:cNvPr id="4" name="g1_stat"/>
          <p:cNvSpPr txBox="1"/>
          <p:nvPr/>
        </p:nvSpPr>
        <p:spPr>
          <a:xfrm>
            <a:off x="548640" y="155448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9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zh-TW" sz="9600" dirty="0"/>
          </a:p>
          <a:p>
            <a:pPr indent="0" marL="0">
              <a:buNone/>
            </a:pPr>
            <a:r>
              <a:rPr lang="zh-TW" altLang="en-US" sz="16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頁，從 17 頁的原文件節錄</a:t>
            </a:r>
            <a:endParaRPr lang="zh-TW" sz="9600" dirty="0"/>
          </a:p>
        </p:txBody>
      </p:sp>
      <p:graphicFrame>
        <p:nvGraphicFramePr>
          <p:cNvPr id="26" name="g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463040"/>
          <a:ext cx="7772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PDF 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頁尾印的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病房住院醫師值班表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2–3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9–10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主治醫師教學課表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每日會議時間表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-12/17-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會議記錄輪值表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-13/17-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CCU 工作分配（白班、夜班、主治）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-14/17-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聯絡電話、每週活動、注意事項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g3_tip"/>
          <p:cNvSpPr txBox="1"/>
          <p:nvPr/>
        </p:nvSpPr>
        <p:spPr>
          <a:xfrm>
            <a:off x="3840480" y="5029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講「第幾頁」的時候，可能是 PDF 頁數，也可能是頁尾印的數字。兩個不一樣，對答案時要先問清楚。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26" grpId="0">
        <p:bldAsOne/>
      </p:bldGraphic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上課前：先把教材拿到手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課前須知</a:t>
            </a:r>
            <a:endParaRPr lang="zh-TW" sz="1400" dirty="0"/>
          </a:p>
        </p:txBody>
      </p:sp>
      <p:sp>
        <p:nvSpPr>
          <p:cNvPr id="4" name="g1_circle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1_icon" descr="會用 g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57200" cy="457200"/>
          </a:xfrm>
          <a:prstGeom prst="rect">
            <a:avLst/>
          </a:prstGeom>
        </p:spPr>
      </p:pic>
      <p:sp>
        <p:nvSpPr>
          <p:cNvPr id="6" name="g1_head"/>
          <p:cNvSpPr txBox="1"/>
          <p:nvPr/>
        </p:nvSpPr>
        <p:spPr>
          <a:xfrm>
            <a:off x="1645920" y="1508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 git</a:t>
            </a:r>
            <a:endParaRPr lang="zh-TW" sz="2000" dirty="0"/>
          </a:p>
        </p:txBody>
      </p:sp>
      <p:sp>
        <p:nvSpPr>
          <p:cNvPr id="7" name="g1_body"/>
          <p:cNvSpPr txBox="1"/>
          <p:nvPr/>
        </p:nvSpPr>
        <p:spPr>
          <a:xfrm>
            <a:off x="1645920" y="1965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clone https://github.com/gemini960114/ai-course-for-clinicians.git</a:t>
            </a:r>
            <a:endParaRPr lang="zh-TW" sz="1600" dirty="0"/>
          </a:p>
        </p:txBody>
      </p:sp>
      <p:sp>
        <p:nvSpPr>
          <p:cNvPr id="8" name="g2_circle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g2_icon" descr="不會用 g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457200" cy="457200"/>
          </a:xfrm>
          <a:prstGeom prst="rect">
            <a:avLst/>
          </a:prstGeom>
        </p:spPr>
      </p:pic>
      <p:sp>
        <p:nvSpPr>
          <p:cNvPr id="10" name="g2_head"/>
          <p:cNvSpPr txBox="1"/>
          <p:nvPr/>
        </p:nvSpPr>
        <p:spPr>
          <a:xfrm>
            <a:off x="1645920" y="29260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不會用 git</a:t>
            </a:r>
            <a:endParaRPr lang="zh-TW" sz="2000" dirty="0"/>
          </a:p>
        </p:txBody>
      </p:sp>
      <p:sp>
        <p:nvSpPr>
          <p:cNvPr id="11" name="g2_body"/>
          <p:cNvSpPr txBox="1"/>
          <p:nvPr/>
        </p:nvSpPr>
        <p:spPr>
          <a:xfrm>
            <a:off x="1645920" y="33832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頁面按綠色的 Code → Download ZIP，下載後解壓縮</a:t>
            </a:r>
            <a:endParaRPr lang="zh-TW" sz="1600" dirty="0"/>
          </a:p>
        </p:txBody>
      </p:sp>
      <p:sp>
        <p:nvSpPr>
          <p:cNvPr id="12" name="g3_circle"/>
          <p:cNvSpPr/>
          <p:nvPr/>
        </p:nvSpPr>
        <p:spPr>
          <a:xfrm>
            <a:off x="548640" y="4389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g3_icon" descr="打開資料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457200" cy="457200"/>
          </a:xfrm>
          <a:prstGeom prst="rect">
            <a:avLst/>
          </a:prstGeom>
        </p:spPr>
      </p:pic>
      <p:sp>
        <p:nvSpPr>
          <p:cNvPr id="14" name="g3_head"/>
          <p:cNvSpPr txBox="1"/>
          <p:nvPr/>
        </p:nvSpPr>
        <p:spPr>
          <a:xfrm>
            <a:off x="1645920" y="43434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打開資料夾</a:t>
            </a:r>
            <a:endParaRPr lang="zh-TW" sz="2000" dirty="0"/>
          </a:p>
        </p:txBody>
      </p:sp>
      <p:sp>
        <p:nvSpPr>
          <p:cNvPr id="15" name="g3_body"/>
          <p:cNvSpPr txBox="1"/>
          <p:nvPr/>
        </p:nvSpPr>
        <p:spPr>
          <a:xfrm>
            <a:off x="164592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用你的 AI 工具開啟這個資料夾，就可以開始了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第一句話很重要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課前須知</a:t>
            </a:r>
            <a:endParaRPr lang="zh-TW" sz="1400" dirty="0"/>
          </a:p>
        </p:txBody>
      </p:sp>
      <p:sp>
        <p:nvSpPr>
          <p:cNvPr id="4" name="g1_prompt"/>
          <p:cNvSpPr txBox="1"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zh-TW" altLang="en-US" sz="20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@114年12月教學活動_去識別化.pdf 請先閱讀這份 PDF。接下來我的問題都只根據這份 PDF 回答，並註明在第幾頁。不要讀資料夾裡的其他檔案。</a:t>
            </a:r>
            <a:endParaRPr lang="zh-TW" sz="2000" dirty="0"/>
          </a:p>
        </p:txBody>
      </p:sp>
      <p:sp>
        <p:nvSpPr>
          <p:cNvPr id="5" name="g2_card"/>
          <p:cNvSpPr/>
          <p:nvPr/>
        </p:nvSpPr>
        <p:spPr>
          <a:xfrm>
            <a:off x="548640" y="32004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g2_head"/>
          <p:cNvSpPr txBox="1"/>
          <p:nvPr/>
        </p:nvSpPr>
        <p:spPr>
          <a:xfrm>
            <a:off x="82296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指定檔案</a:t>
            </a:r>
            <a:endParaRPr lang="zh-TW" sz="2000" dirty="0"/>
          </a:p>
        </p:txBody>
      </p:sp>
      <p:sp>
        <p:nvSpPr>
          <p:cNvPr id="7" name="g2_body"/>
          <p:cNvSpPr txBox="1"/>
          <p:nvPr/>
        </p:nvSpPr>
        <p:spPr>
          <a:xfrm>
            <a:off x="822960" y="3977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@ 或上傳附件，告訴 AI 要看哪一份</a:t>
            </a:r>
            <a:endParaRPr lang="zh-TW" sz="1500" dirty="0"/>
          </a:p>
        </p:txBody>
      </p:sp>
      <p:sp>
        <p:nvSpPr>
          <p:cNvPr id="8" name="g3_card"/>
          <p:cNvSpPr/>
          <p:nvPr/>
        </p:nvSpPr>
        <p:spPr>
          <a:xfrm>
            <a:off x="4297680" y="32004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g3_head"/>
          <p:cNvSpPr txBox="1"/>
          <p:nvPr/>
        </p:nvSpPr>
        <p:spPr>
          <a:xfrm>
            <a:off x="457200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要它附頁碼</a:t>
            </a:r>
            <a:endParaRPr lang="zh-TW" sz="2000" dirty="0"/>
          </a:p>
        </p:txBody>
      </p:sp>
      <p:sp>
        <p:nvSpPr>
          <p:cNvPr id="10" name="g3_body"/>
          <p:cNvSpPr txBox="1"/>
          <p:nvPr/>
        </p:nvSpPr>
        <p:spPr>
          <a:xfrm>
            <a:off x="4572000" y="3977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之後每個答案都能回原文對</a:t>
            </a:r>
            <a:endParaRPr lang="zh-TW" sz="1500" dirty="0"/>
          </a:p>
        </p:txBody>
      </p:sp>
      <p:sp>
        <p:nvSpPr>
          <p:cNvPr id="11" name="g4_card"/>
          <p:cNvSpPr/>
          <p:nvPr/>
        </p:nvSpPr>
        <p:spPr>
          <a:xfrm>
            <a:off x="8046720" y="32004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g4_head"/>
          <p:cNvSpPr txBox="1"/>
          <p:nvPr/>
        </p:nvSpPr>
        <p:spPr>
          <a:xfrm>
            <a:off x="832104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不准看別的</a:t>
            </a:r>
            <a:endParaRPr lang="zh-TW" sz="2000" dirty="0"/>
          </a:p>
        </p:txBody>
      </p:sp>
      <p:sp>
        <p:nvSpPr>
          <p:cNvPr id="13" name="g4_body"/>
          <p:cNvSpPr txBox="1"/>
          <p:nvPr/>
        </p:nvSpPr>
        <p:spPr>
          <a:xfrm>
            <a:off x="8321040" y="3977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資料夾裡有答案，別讓 AI 偷看</a:t>
            </a:r>
            <a:endParaRPr lang="zh-TW" sz="1500" dirty="0"/>
          </a:p>
        </p:txBody>
      </p:sp>
      <p:sp>
        <p:nvSpPr>
          <p:cNvPr id="14" name="g5_tip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開新的對話，AI 就忘了，要重講一次。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 AI 合作的三個習慣</a:t>
            </a:r>
            <a:endParaRPr lang="zh-TW" sz="3400" dirty="0"/>
          </a:p>
        </p:txBody>
      </p:sp>
      <p:sp>
        <p:nvSpPr>
          <p:cNvPr id="3" name="g1_card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g1_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1_icon" descr="說清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374904" cy="374904"/>
          </a:xfrm>
          <a:prstGeom prst="rect">
            <a:avLst/>
          </a:prstGeom>
        </p:spPr>
      </p:pic>
      <p:sp>
        <p:nvSpPr>
          <p:cNvPr id="6" name="g1_head"/>
          <p:cNvSpPr txBox="1"/>
          <p:nvPr/>
        </p:nvSpPr>
        <p:spPr>
          <a:xfrm>
            <a:off x="82296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說清楚</a:t>
            </a:r>
            <a:endParaRPr lang="zh-TW" sz="2000" dirty="0"/>
          </a:p>
        </p:txBody>
      </p:sp>
      <p:sp>
        <p:nvSpPr>
          <p:cNvPr id="7" name="g1_body"/>
          <p:cNvSpPr txBox="1"/>
          <p:nvPr/>
        </p:nvSpPr>
        <p:spPr>
          <a:xfrm>
            <a:off x="822960" y="30632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要什麼、給誰看、什麼格式、多長。</a:t>
            </a:r>
            <a:endParaRPr lang="zh-TW" sz="1500" dirty="0"/>
          </a:p>
          <a:p>
            <a:pPr indent="0" marL="0">
              <a:buNone/>
            </a:pPr>
            <a:endParaRPr lang="zh-TW" sz="15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講得越清楚，第一次就越接近你要的。</a:t>
            </a:r>
            <a:endParaRPr lang="zh-TW" sz="1500" dirty="0"/>
          </a:p>
        </p:txBody>
      </p:sp>
      <p:sp>
        <p:nvSpPr>
          <p:cNvPr id="8" name="g2_card"/>
          <p:cNvSpPr/>
          <p:nvPr/>
        </p:nvSpPr>
        <p:spPr>
          <a:xfrm>
            <a:off x="429768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g2_circle"/>
          <p:cNvSpPr/>
          <p:nvPr/>
        </p:nvSpPr>
        <p:spPr>
          <a:xfrm>
            <a:off x="45720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2_icon" descr="要出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92808"/>
            <a:ext cx="374904" cy="374904"/>
          </a:xfrm>
          <a:prstGeom prst="rect">
            <a:avLst/>
          </a:prstGeom>
        </p:spPr>
      </p:pic>
      <p:sp>
        <p:nvSpPr>
          <p:cNvPr id="11" name="g2_head"/>
          <p:cNvSpPr txBox="1"/>
          <p:nvPr/>
        </p:nvSpPr>
        <p:spPr>
          <a:xfrm>
            <a:off x="457200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要出處</a:t>
            </a:r>
            <a:endParaRPr lang="zh-TW" sz="2000" dirty="0"/>
          </a:p>
        </p:txBody>
      </p:sp>
      <p:sp>
        <p:nvSpPr>
          <p:cNvPr id="12" name="g2_body"/>
          <p:cNvSpPr txBox="1"/>
          <p:nvPr/>
        </p:nvSpPr>
        <p:spPr>
          <a:xfrm>
            <a:off x="4572000" y="30632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「這個答案在 PDF 第幾頁？請引用原文。」</a:t>
            </a:r>
            <a:endParaRPr lang="zh-TW" sz="1500" dirty="0"/>
          </a:p>
          <a:p>
            <a:pPr indent="0" marL="0">
              <a:buNone/>
            </a:pPr>
            <a:endParaRPr lang="zh-TW" sz="15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有出處，才查得到對不對。</a:t>
            </a:r>
            <a:endParaRPr lang="zh-TW" sz="1500" dirty="0"/>
          </a:p>
        </p:txBody>
      </p:sp>
      <p:sp>
        <p:nvSpPr>
          <p:cNvPr id="13" name="g3_card"/>
          <p:cNvSpPr/>
          <p:nvPr/>
        </p:nvSpPr>
        <p:spPr>
          <a:xfrm>
            <a:off x="804672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g3_circle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3_icon" descr="要核對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892808"/>
            <a:ext cx="374904" cy="374904"/>
          </a:xfrm>
          <a:prstGeom prst="rect">
            <a:avLst/>
          </a:prstGeom>
        </p:spPr>
      </p:pic>
      <p:sp>
        <p:nvSpPr>
          <p:cNvPr id="16" name="g3_head"/>
          <p:cNvSpPr txBox="1"/>
          <p:nvPr/>
        </p:nvSpPr>
        <p:spPr>
          <a:xfrm>
            <a:off x="832104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要核對</a:t>
            </a:r>
            <a:endParaRPr lang="zh-TW" sz="2000" dirty="0"/>
          </a:p>
        </p:txBody>
      </p:sp>
      <p:sp>
        <p:nvSpPr>
          <p:cNvPr id="17" name="g3_body"/>
          <p:cNvSpPr txBox="1"/>
          <p:nvPr/>
        </p:nvSpPr>
        <p:spPr>
          <a:xfrm>
            <a:off x="8321040" y="30632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會一本正經地答錯，尤其是表格。</a:t>
            </a:r>
            <a:endParaRPr lang="zh-TW" sz="1500" dirty="0"/>
          </a:p>
          <a:p>
            <a:pPr indent="0" marL="0">
              <a:buNone/>
            </a:pPr>
            <a:endParaRPr lang="zh-TW" sz="15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「有哪些地方你不確定？」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 AI 讀懂這份文件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0｜暖身</a:t>
            </a:r>
            <a:endParaRPr lang="zh-TW" sz="14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1719072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0-1</a:t>
            </a:r>
            <a:endParaRPr lang="zh-TW" sz="1500" dirty="0"/>
          </a:p>
        </p:txBody>
      </p:sp>
      <p:sp>
        <p:nvSpPr>
          <p:cNvPr id="5" name="g1_prompt"/>
          <p:cNvSpPr txBox="1"/>
          <p:nvPr/>
        </p:nvSpPr>
        <p:spPr>
          <a:xfrm>
            <a:off x="1508760" y="1645920"/>
            <a:ext cx="67208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 PDF 在講什麼？用三句話說明。</a:t>
            </a:r>
            <a:endParaRPr lang="zh-TW" sz="1600" dirty="0"/>
          </a:p>
        </p:txBody>
      </p:sp>
      <p:sp>
        <p:nvSpPr>
          <p:cNvPr id="6" name="g1_hint"/>
          <p:cNvSpPr txBox="1"/>
          <p:nvPr/>
        </p:nvSpPr>
        <p:spPr>
          <a:xfrm>
            <a:off x="8412480" y="164592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能不能說出是 CCU 的排班與教學文件</a:t>
            </a:r>
            <a:endParaRPr lang="zh-TW" sz="1400" dirty="0"/>
          </a:p>
        </p:txBody>
      </p:sp>
      <p:sp>
        <p:nvSpPr>
          <p:cNvPr id="7" name="g2_num"/>
          <p:cNvSpPr txBox="1"/>
          <p:nvPr/>
        </p:nvSpPr>
        <p:spPr>
          <a:xfrm>
            <a:off x="548640" y="283464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0-2</a:t>
            </a:r>
            <a:endParaRPr lang="zh-TW" sz="1500" dirty="0"/>
          </a:p>
        </p:txBody>
      </p:sp>
      <p:sp>
        <p:nvSpPr>
          <p:cNvPr id="8" name="g2_prompt"/>
          <p:cNvSpPr txBox="1"/>
          <p:nvPr/>
        </p:nvSpPr>
        <p:spPr>
          <a:xfrm>
            <a:off x="1508760" y="2651760"/>
            <a:ext cx="6720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 CCU 的護理師，這份文件裡跟我有直接關係的內容有哪些？</a:t>
            </a:r>
            <a:endParaRPr lang="zh-TW" sz="1600" dirty="0"/>
          </a:p>
        </p:txBody>
      </p:sp>
      <p:sp>
        <p:nvSpPr>
          <p:cNvPr id="9" name="g2_hint"/>
          <p:cNvSpPr txBox="1"/>
          <p:nvPr/>
        </p:nvSpPr>
        <p:spPr>
          <a:xfrm>
            <a:off x="8412480" y="26517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職稱換成你自己的</a:t>
            </a:r>
            <a:endParaRPr lang="zh-TW" sz="1400" dirty="0"/>
          </a:p>
        </p:txBody>
      </p:sp>
      <p:sp>
        <p:nvSpPr>
          <p:cNvPr id="10" name="g3_tip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先說自己是誰，AI 給的答案會更貼近你。</a:t>
            </a:r>
            <a:endParaRPr lang="zh-TW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會編答案，也會讀錯表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1｜查</a:t>
            </a:r>
            <a:endParaRPr lang="zh-TW" sz="14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1719072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1-1</a:t>
            </a:r>
            <a:endParaRPr lang="zh-TW" sz="1500" dirty="0"/>
          </a:p>
        </p:txBody>
      </p:sp>
      <p:sp>
        <p:nvSpPr>
          <p:cNvPr id="5" name="g1_prompt"/>
          <p:cNvSpPr txBox="1"/>
          <p:nvPr/>
        </p:nvSpPr>
        <p:spPr>
          <a:xfrm>
            <a:off x="1508760" y="1645920"/>
            <a:ext cx="67208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 專責主治醫師是誰？怎麼聯絡？</a:t>
            </a:r>
            <a:endParaRPr lang="zh-TW" sz="1600" dirty="0"/>
          </a:p>
        </p:txBody>
      </p:sp>
      <p:sp>
        <p:nvSpPr>
          <p:cNvPr id="6" name="g1_hint"/>
          <p:cNvSpPr txBox="1"/>
          <p:nvPr/>
        </p:nvSpPr>
        <p:spPr>
          <a:xfrm>
            <a:off x="8412480" y="164592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原文沒寫，看 AI 會不會亂編</a:t>
            </a:r>
            <a:endParaRPr lang="zh-TW" sz="1400" dirty="0"/>
          </a:p>
        </p:txBody>
      </p:sp>
      <p:sp>
        <p:nvSpPr>
          <p:cNvPr id="7" name="g2_num"/>
          <p:cNvSpPr txBox="1"/>
          <p:nvPr/>
        </p:nvSpPr>
        <p:spPr>
          <a:xfrm>
            <a:off x="548640" y="2724912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1-2</a:t>
            </a:r>
            <a:endParaRPr lang="zh-TW" sz="1500" dirty="0"/>
          </a:p>
        </p:txBody>
      </p:sp>
      <p:sp>
        <p:nvSpPr>
          <p:cNvPr id="8" name="g2_prompt"/>
          <p:cNvSpPr txBox="1"/>
          <p:nvPr/>
        </p:nvSpPr>
        <p:spPr>
          <a:xfrm>
            <a:off x="1508760" y="2651760"/>
            <a:ext cx="67208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CCU 12/2 白天 A 區住院醫師是誰？</a:t>
            </a:r>
            <a:endParaRPr lang="zh-TW" sz="1600" dirty="0"/>
          </a:p>
        </p:txBody>
      </p:sp>
      <p:sp>
        <p:nvSpPr>
          <p:cNvPr id="9" name="g2_hint"/>
          <p:cNvSpPr txBox="1"/>
          <p:nvPr/>
        </p:nvSpPr>
        <p:spPr>
          <a:xfrm>
            <a:off x="8412480" y="265176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下一頁一起對答案</a:t>
            </a:r>
            <a:endParaRPr lang="zh-TW" sz="1400" dirty="0"/>
          </a:p>
        </p:txBody>
      </p:sp>
      <p:sp>
        <p:nvSpPr>
          <p:cNvPr id="10" name="g3_card"/>
          <p:cNvSpPr/>
          <p:nvPr/>
        </p:nvSpPr>
        <p:spPr>
          <a:xfrm>
            <a:off x="548640" y="384048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g3_circle"/>
          <p:cNvSpPr/>
          <p:nvPr/>
        </p:nvSpPr>
        <p:spPr>
          <a:xfrm>
            <a:off x="822960" y="42291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g3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384548"/>
            <a:ext cx="374904" cy="374904"/>
          </a:xfrm>
          <a:prstGeom prst="rect">
            <a:avLst/>
          </a:prstGeom>
        </p:spPr>
      </p:pic>
      <p:sp>
        <p:nvSpPr>
          <p:cNvPr id="13" name="g3_txt"/>
          <p:cNvSpPr txBox="1"/>
          <p:nvPr/>
        </p:nvSpPr>
        <p:spPr>
          <a:xfrm>
            <a:off x="1783080" y="3840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每題都追問一句：「在第幾頁？原文怎麼寫？」</a:t>
            </a:r>
            <a:endParaRPr lang="zh-TW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對答案：AI 讀錯表了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1｜查</a:t>
            </a:r>
            <a:endParaRPr lang="zh-TW" sz="1400" dirty="0"/>
          </a:p>
        </p:txBody>
      </p:sp>
      <p:sp>
        <p:nvSpPr>
          <p:cNvPr id="4" name="g1_q"/>
          <p:cNvSpPr txBox="1"/>
          <p:nvPr/>
        </p:nvSpPr>
        <p:spPr>
          <a:xfrm>
            <a:off x="548640" y="146304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zh-TW" altLang="en-US" sz="22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CCU 12/2 白天 A 區住院醫師是誰？</a:t>
            </a:r>
            <a:endParaRPr lang="zh-TW" sz="2200" dirty="0"/>
          </a:p>
        </p:txBody>
      </p:sp>
      <p:sp>
        <p:nvSpPr>
          <p:cNvPr id="5" name="g2_card"/>
          <p:cNvSpPr/>
          <p:nvPr/>
        </p:nvSpPr>
        <p:spPr>
          <a:xfrm>
            <a:off x="548640" y="25603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BE9E4"/>
          </a:solidFill>
          <a:ln/>
        </p:spPr>
      </p:sp>
      <p:sp>
        <p:nvSpPr>
          <p:cNvPr id="6" name="g2_circle"/>
          <p:cNvSpPr/>
          <p:nvPr/>
        </p:nvSpPr>
        <p:spPr>
          <a:xfrm>
            <a:off x="822960" y="2834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g2_icon" descr="AI 常見的答案：林○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990088"/>
            <a:ext cx="374904" cy="374904"/>
          </a:xfrm>
          <a:prstGeom prst="rect">
            <a:avLst/>
          </a:prstGeom>
        </p:spPr>
      </p:pic>
      <p:sp>
        <p:nvSpPr>
          <p:cNvPr id="8" name="g2_head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常見的答案：林○均</a:t>
            </a:r>
            <a:endParaRPr lang="zh-TW" sz="2000" dirty="0"/>
          </a:p>
        </p:txBody>
      </p:sp>
      <p:sp>
        <p:nvSpPr>
          <p:cNvPr id="9" name="g2_body"/>
          <p:cNvSpPr txBox="1"/>
          <p:nvPr/>
        </p:nvSpPr>
        <p:spPr>
          <a:xfrm>
            <a:off x="82296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對錯欄，拿到的是隔天 12/3 的人。</a:t>
            </a:r>
            <a:endParaRPr lang="zh-TW" sz="1500" dirty="0"/>
          </a:p>
        </p:txBody>
      </p:sp>
      <p:sp>
        <p:nvSpPr>
          <p:cNvPr id="10" name="g3_card"/>
          <p:cNvSpPr/>
          <p:nvPr/>
        </p:nvSpPr>
        <p:spPr>
          <a:xfrm>
            <a:off x="6217920" y="256032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g3_circle"/>
          <p:cNvSpPr/>
          <p:nvPr/>
        </p:nvSpPr>
        <p:spPr>
          <a:xfrm>
            <a:off x="6492240" y="2834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g3_icon" descr="正確答案：陳○佑（A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990088"/>
            <a:ext cx="374904" cy="374904"/>
          </a:xfrm>
          <a:prstGeom prst="rect">
            <a:avLst/>
          </a:prstGeom>
        </p:spPr>
      </p:pic>
      <p:sp>
        <p:nvSpPr>
          <p:cNvPr id="13" name="g3_head"/>
          <p:cNvSpPr txBox="1"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正確答案：陳○佑（A）</a:t>
            </a:r>
            <a:endParaRPr lang="zh-TW" sz="2000" dirty="0"/>
          </a:p>
        </p:txBody>
      </p:sp>
      <p:sp>
        <p:nvSpPr>
          <p:cNvPr id="14" name="g3_body"/>
          <p:cNvSpPr txBox="1"/>
          <p:nvPr/>
        </p:nvSpPr>
        <p:spPr>
          <a:xfrm>
            <a:off x="649224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第 6 頁，12/2 那一欄寫的是 A。</a:t>
            </a:r>
            <a:endParaRPr lang="zh-TW" sz="1500" dirty="0"/>
          </a:p>
        </p:txBody>
      </p:sp>
      <p:sp>
        <p:nvSpPr>
          <p:cNvPr id="15" name="g4_tip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做法：打開 PDF 第 6 頁，自己對一次代號。</a:t>
            </a:r>
            <a:endParaRPr lang="zh-TW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PDF 變成 Excel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2｜整理</a:t>
            </a:r>
            <a:endParaRPr lang="zh-TW" sz="14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182880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2-1</a:t>
            </a:r>
            <a:endParaRPr lang="zh-TW" sz="1500" dirty="0"/>
          </a:p>
        </p:txBody>
      </p:sp>
      <p:sp>
        <p:nvSpPr>
          <p:cNvPr id="5" name="g1_prompt"/>
          <p:cNvSpPr txBox="1"/>
          <p:nvPr/>
        </p:nvSpPr>
        <p:spPr>
          <a:xfrm>
            <a:off x="1508760" y="1554480"/>
            <a:ext cx="6720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12 月 CCU 每日值班整理成 Excel：日期、星期、A 區白班、B 區白班、A 區夜班、B 區夜班、專責主治醫師。代號換成姓名。</a:t>
            </a:r>
            <a:endParaRPr lang="zh-TW" sz="1600" dirty="0"/>
          </a:p>
        </p:txBody>
      </p:sp>
      <p:sp>
        <p:nvSpPr>
          <p:cNvPr id="6" name="g1_hint"/>
          <p:cNvSpPr txBox="1"/>
          <p:nvPr/>
        </p:nvSpPr>
        <p:spPr>
          <a:xfrm>
            <a:off x="8412480" y="15544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 3 天自己核對</a:t>
            </a:r>
            <a:endParaRPr lang="zh-TW" sz="1400" dirty="0"/>
          </a:p>
        </p:txBody>
      </p:sp>
      <p:sp>
        <p:nvSpPr>
          <p:cNvPr id="7" name="g2_num"/>
          <p:cNvSpPr txBox="1"/>
          <p:nvPr/>
        </p:nvSpPr>
        <p:spPr>
          <a:xfrm>
            <a:off x="548640" y="310896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2-2</a:t>
            </a:r>
            <a:endParaRPr lang="zh-TW" sz="1500" dirty="0"/>
          </a:p>
        </p:txBody>
      </p:sp>
      <p:sp>
        <p:nvSpPr>
          <p:cNvPr id="8" name="g2_prompt"/>
          <p:cNvSpPr txBox="1"/>
          <p:nvPr/>
        </p:nvSpPr>
        <p:spPr>
          <a:xfrm>
            <a:off x="1508760" y="2834640"/>
            <a:ext cx="6720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Teaching Round 中日期在 12 月的課程整理成 Excel：日期、時間、主題、講者、方式、地點，依日期排序。</a:t>
            </a:r>
            <a:endParaRPr lang="zh-TW" sz="1600" dirty="0"/>
          </a:p>
        </p:txBody>
      </p:sp>
      <p:sp>
        <p:nvSpPr>
          <p:cNvPr id="9" name="g2_hint"/>
          <p:cNvSpPr txBox="1"/>
          <p:nvPr/>
        </p:nvSpPr>
        <p:spPr>
          <a:xfrm>
            <a:off x="8412480" y="28346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應該有 22 場</a:t>
            </a:r>
            <a:endParaRPr lang="zh-TW" sz="1400" dirty="0"/>
          </a:p>
        </p:txBody>
      </p:sp>
      <p:sp>
        <p:nvSpPr>
          <p:cNvPr id="10" name="g3_tip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做表格，人來驗收。</a:t>
            </a:r>
            <a:endParaRPr lang="zh-TW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幫你抓錯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3｜抓錯</a:t>
            </a:r>
            <a:endParaRPr lang="zh-TW" sz="1400" dirty="0"/>
          </a:p>
        </p:txBody>
      </p:sp>
      <p:sp>
        <p:nvSpPr>
          <p:cNvPr id="4" name="g1_stat"/>
          <p:cNvSpPr txBox="1"/>
          <p:nvPr/>
        </p:nvSpPr>
        <p:spPr>
          <a:xfrm>
            <a:off x="548640" y="146304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堂課</a:t>
            </a:r>
            <a:endParaRPr lang="zh-TW" sz="72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月的課表，日期寫成 10 月</a:t>
            </a:r>
            <a:endParaRPr lang="zh-TW" sz="7200" dirty="0"/>
          </a:p>
        </p:txBody>
      </p:sp>
      <p:sp>
        <p:nvSpPr>
          <p:cNvPr id="5" name="g2_stat"/>
          <p:cNvSpPr txBox="1"/>
          <p:nvPr/>
        </p:nvSpPr>
        <p:spPr>
          <a:xfrm>
            <a:off x="4297680" y="146304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堂課</a:t>
            </a:r>
            <a:endParaRPr lang="zh-TW" sz="72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時間還沒確定，要組長去問</a:t>
            </a:r>
            <a:endParaRPr lang="zh-TW" sz="7200" dirty="0"/>
          </a:p>
        </p:txBody>
      </p:sp>
      <p:sp>
        <p:nvSpPr>
          <p:cNvPr id="6" name="g3_stat"/>
          <p:cNvSpPr txBox="1"/>
          <p:nvPr/>
        </p:nvSpPr>
        <p:spPr>
          <a:xfrm>
            <a:off x="8046720" y="146304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個時段</a:t>
            </a:r>
            <a:endParaRPr lang="zh-TW" sz="72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12/22 下午兩堂課撞在一起</a:t>
            </a:r>
            <a:endParaRPr lang="zh-TW" sz="7200" dirty="0"/>
          </a:p>
        </p:txBody>
      </p:sp>
      <p:sp>
        <p:nvSpPr>
          <p:cNvPr id="7" name="g4_num"/>
          <p:cNvSpPr txBox="1"/>
          <p:nvPr/>
        </p:nvSpPr>
        <p:spPr>
          <a:xfrm>
            <a:off x="548640" y="3730752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3-1</a:t>
            </a:r>
            <a:endParaRPr lang="zh-TW" sz="1500" dirty="0"/>
          </a:p>
        </p:txBody>
      </p:sp>
      <p:sp>
        <p:nvSpPr>
          <p:cNvPr id="8" name="g4_prompt"/>
          <p:cNvSpPr txBox="1"/>
          <p:nvPr/>
        </p:nvSpPr>
        <p:spPr>
          <a:xfrm>
            <a:off x="1508760" y="3657600"/>
            <a:ext cx="67208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 12 月的課表，找出日期不是 12 月的課程。</a:t>
            </a:r>
            <a:endParaRPr lang="zh-TW" sz="1600" dirty="0"/>
          </a:p>
        </p:txBody>
      </p:sp>
      <p:sp>
        <p:nvSpPr>
          <p:cNvPr id="9" name="g4_hint"/>
          <p:cNvSpPr txBox="1"/>
          <p:nvPr/>
        </p:nvSpPr>
        <p:spPr>
          <a:xfrm>
            <a:off x="8412480" y="365760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每個月都能用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跨頁比對：找到的是疑點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3｜抓錯</a:t>
            </a:r>
            <a:endParaRPr lang="zh-TW" sz="14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1536192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3-2</a:t>
            </a:r>
            <a:endParaRPr lang="zh-TW" sz="1500" dirty="0"/>
          </a:p>
        </p:txBody>
      </p:sp>
      <p:sp>
        <p:nvSpPr>
          <p:cNvPr id="5" name="g1_prompt"/>
          <p:cNvSpPr txBox="1"/>
          <p:nvPr/>
        </p:nvSpPr>
        <p:spPr>
          <a:xfrm>
            <a:off x="1508760" y="1463040"/>
            <a:ext cx="101041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比對第 4 頁和第 6 頁的 Journal Meeting 日期，有沒有不一致？</a:t>
            </a:r>
            <a:endParaRPr lang="zh-TW" sz="1600" dirty="0"/>
          </a:p>
        </p:txBody>
      </p:sp>
      <p:sp>
        <p:nvSpPr>
          <p:cNvPr id="6" name="g2_card"/>
          <p:cNvSpPr/>
          <p:nvPr/>
        </p:nvSpPr>
        <p:spPr>
          <a:xfrm>
            <a:off x="548640" y="237744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7" name="g2_head"/>
          <p:cNvSpPr txBox="1"/>
          <p:nvPr/>
        </p:nvSpPr>
        <p:spPr>
          <a:xfrm>
            <a:off x="82296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黃○洲主任 08:30</a:t>
            </a:r>
            <a:endParaRPr lang="zh-TW" sz="2000" dirty="0"/>
          </a:p>
        </p:txBody>
      </p:sp>
      <p:sp>
        <p:nvSpPr>
          <p:cNvPr id="8" name="g2_body"/>
          <p:cNvSpPr txBox="1"/>
          <p:nvPr/>
        </p:nvSpPr>
        <p:spPr>
          <a:xfrm>
            <a:off x="82296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頁寫 12/04，第 4 頁寫 12/5</a:t>
            </a:r>
            <a:endParaRPr lang="zh-TW" sz="1500" dirty="0"/>
          </a:p>
        </p:txBody>
      </p:sp>
      <p:sp>
        <p:nvSpPr>
          <p:cNvPr id="9" name="g3_card"/>
          <p:cNvSpPr/>
          <p:nvPr/>
        </p:nvSpPr>
        <p:spPr>
          <a:xfrm>
            <a:off x="6217920" y="237744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g3_head"/>
          <p:cNvSpPr txBox="1"/>
          <p:nvPr/>
        </p:nvSpPr>
        <p:spPr>
          <a:xfrm>
            <a:off x="649224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黃○勳主任 16:00</a:t>
            </a:r>
            <a:endParaRPr lang="zh-TW" sz="2000" dirty="0"/>
          </a:p>
        </p:txBody>
      </p:sp>
      <p:sp>
        <p:nvSpPr>
          <p:cNvPr id="11" name="g3_body"/>
          <p:cNvSpPr txBox="1"/>
          <p:nvPr/>
        </p:nvSpPr>
        <p:spPr>
          <a:xfrm>
            <a:off x="649224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頁寫 12/12，第 4 頁寫 12/19</a:t>
            </a:r>
            <a:endParaRPr lang="zh-TW" sz="1500" dirty="0"/>
          </a:p>
        </p:txBody>
      </p:sp>
      <p:sp>
        <p:nvSpPr>
          <p:cNvPr id="12" name="g4_tip"/>
          <p:cNvSpPr txBox="1"/>
          <p:nvPr/>
        </p:nvSpPr>
        <p:spPr>
          <a:xfrm>
            <a:off x="548640" y="448056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BE9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找到的是「疑點」，要問人才算「結論」。</a:t>
            </a:r>
            <a:endParaRPr lang="zh-TW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 Word 文件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4｜寫</a:t>
            </a:r>
            <a:endParaRPr lang="zh-TW" sz="14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178308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4-1</a:t>
            </a:r>
            <a:endParaRPr lang="zh-TW" sz="1500" dirty="0"/>
          </a:p>
        </p:txBody>
      </p:sp>
      <p:sp>
        <p:nvSpPr>
          <p:cNvPr id="5" name="g1_prompt"/>
          <p:cNvSpPr txBox="1"/>
          <p:nvPr/>
        </p:nvSpPr>
        <p:spPr>
          <a:xfrm>
            <a:off x="1508760" y="1554480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根據第 7 頁的 CCU 注意事項，寫一份「新進人員 CCU 第一週須知」Word 檔，一頁以內、條列式，最後附聯絡表。</a:t>
            </a:r>
            <a:endParaRPr lang="zh-TW" sz="1600" dirty="0"/>
          </a:p>
        </p:txBody>
      </p:sp>
      <p:sp>
        <p:nvSpPr>
          <p:cNvPr id="6" name="g1_hint"/>
          <p:cNvSpPr txBox="1"/>
          <p:nvPr/>
        </p:nvSpPr>
        <p:spPr>
          <a:xfrm>
            <a:off x="8412480" y="15544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有沒有超過一頁</a:t>
            </a:r>
            <a:endParaRPr lang="zh-TW" sz="1400" dirty="0"/>
          </a:p>
        </p:txBody>
      </p:sp>
      <p:sp>
        <p:nvSpPr>
          <p:cNvPr id="7" name="g2_num"/>
          <p:cNvSpPr txBox="1"/>
          <p:nvPr/>
        </p:nvSpPr>
        <p:spPr>
          <a:xfrm>
            <a:off x="548640" y="288036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4-2</a:t>
            </a:r>
            <a:endParaRPr lang="zh-TW" sz="1500" dirty="0"/>
          </a:p>
        </p:txBody>
      </p:sp>
      <p:sp>
        <p:nvSpPr>
          <p:cNvPr id="8" name="g2_prompt"/>
          <p:cNvSpPr txBox="1"/>
          <p:nvPr/>
        </p:nvSpPr>
        <p:spPr>
          <a:xfrm>
            <a:off x="1508760" y="2743200"/>
            <a:ext cx="6720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設計一份「病例討論會用的特殊護理紀錄摘要」空白模板 Word 檔，一頁。</a:t>
            </a:r>
            <a:endParaRPr lang="zh-TW" sz="1600" dirty="0"/>
          </a:p>
        </p:txBody>
      </p:sp>
      <p:sp>
        <p:nvSpPr>
          <p:cNvPr id="9" name="g2_hint"/>
          <p:cNvSpPr txBox="1"/>
          <p:nvPr/>
        </p:nvSpPr>
        <p:spPr>
          <a:xfrm>
            <a:off x="8412480" y="27432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課後可以帶回單位用</a:t>
            </a:r>
            <a:endParaRPr lang="zh-TW" sz="1400" dirty="0"/>
          </a:p>
        </p:txBody>
      </p:sp>
      <p:sp>
        <p:nvSpPr>
          <p:cNvPr id="10" name="g3_tip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講清楚：給誰看、什麼格式、多長。</a:t>
            </a:r>
            <a:endParaRPr lang="zh-TW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做簡報草稿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5｜簡報</a:t>
            </a:r>
            <a:endParaRPr lang="zh-TW" sz="14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178308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5-1</a:t>
            </a:r>
            <a:endParaRPr lang="zh-TW" sz="1500" dirty="0"/>
          </a:p>
        </p:txBody>
      </p:sp>
      <p:sp>
        <p:nvSpPr>
          <p:cNvPr id="5" name="g1_prompt"/>
          <p:cNvSpPr txBox="1"/>
          <p:nvPr/>
        </p:nvSpPr>
        <p:spPr>
          <a:xfrm>
            <a:off x="1508760" y="1554480"/>
            <a:ext cx="10104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根據這份 PDF，做 5 頁「CCU 新進人員導覽」簡報：單位介紹、每週活動、重要會議、注意事項、聯絡人。</a:t>
            </a:r>
            <a:endParaRPr lang="zh-TW" sz="1600" dirty="0"/>
          </a:p>
        </p:txBody>
      </p:sp>
      <p:sp>
        <p:nvSpPr>
          <p:cNvPr id="6" name="g2_num"/>
          <p:cNvSpPr txBox="1"/>
          <p:nvPr/>
        </p:nvSpPr>
        <p:spPr>
          <a:xfrm>
            <a:off x="548640" y="297180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5-2</a:t>
            </a:r>
            <a:endParaRPr lang="zh-TW" sz="1500" dirty="0"/>
          </a:p>
        </p:txBody>
      </p:sp>
      <p:sp>
        <p:nvSpPr>
          <p:cNvPr id="7" name="g2_prompt"/>
          <p:cNvSpPr txBox="1"/>
          <p:nvPr/>
        </p:nvSpPr>
        <p:spPr>
          <a:xfrm>
            <a:off x="1508760" y="2743200"/>
            <a:ext cx="10104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把單元 3 找到的問題做成 3 頁簡報，給教學總醫師看，語氣客氣、附頁碼。</a:t>
            </a:r>
            <a:endParaRPr lang="zh-TW" sz="1600" dirty="0"/>
          </a:p>
        </p:txBody>
      </p:sp>
      <p:sp>
        <p:nvSpPr>
          <p:cNvPr id="8" name="g3_card"/>
          <p:cNvSpPr/>
          <p:nvPr/>
        </p:nvSpPr>
        <p:spPr>
          <a:xfrm>
            <a:off x="548640" y="402336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g3_circle"/>
          <p:cNvSpPr/>
          <p:nvPr/>
        </p:nvSpPr>
        <p:spPr>
          <a:xfrm>
            <a:off x="822960" y="44119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3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567428"/>
            <a:ext cx="374904" cy="374904"/>
          </a:xfrm>
          <a:prstGeom prst="rect">
            <a:avLst/>
          </a:prstGeom>
        </p:spPr>
      </p:pic>
      <p:sp>
        <p:nvSpPr>
          <p:cNvPr id="11" name="g3_txt"/>
          <p:cNvSpPr txBox="1"/>
          <p:nvPr/>
        </p:nvSpPr>
        <p:spPr>
          <a:xfrm>
            <a:off x="1783080" y="40233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做的是草稿。看過、改過，才是你的簡報。</a:t>
            </a:r>
            <a:endParaRPr lang="zh-TW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哪些資料可以給 AI？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6｜界線</a:t>
            </a:r>
            <a:endParaRPr lang="zh-TW" sz="1400" dirty="0"/>
          </a:p>
        </p:txBody>
      </p:sp>
      <p:sp>
        <p:nvSpPr>
          <p:cNvPr id="4" name="g1_box"/>
          <p:cNvSpPr/>
          <p:nvPr/>
        </p:nvSpPr>
        <p:spPr>
          <a:xfrm>
            <a:off x="548640" y="1417320"/>
            <a:ext cx="53949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5" name="g1_q"/>
          <p:cNvSpPr txBox="1"/>
          <p:nvPr/>
        </p:nvSpPr>
        <p:spPr>
          <a:xfrm>
            <a:off x="1691640" y="1600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本單位值班表</a:t>
            </a:r>
            <a:endParaRPr lang="zh-TW" sz="1800" dirty="0"/>
          </a:p>
        </p:txBody>
      </p:sp>
      <p:sp>
        <p:nvSpPr>
          <p:cNvPr id="6" name="g2_box"/>
          <p:cNvSpPr/>
          <p:nvPr/>
        </p:nvSpPr>
        <p:spPr>
          <a:xfrm>
            <a:off x="6172200" y="1417320"/>
            <a:ext cx="53949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7" name="g2_q"/>
          <p:cNvSpPr txBox="1"/>
          <p:nvPr/>
        </p:nvSpPr>
        <p:spPr>
          <a:xfrm>
            <a:off x="7315200" y="1600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編的虛構病例</a:t>
            </a:r>
            <a:endParaRPr lang="zh-TW" sz="1800" dirty="0"/>
          </a:p>
        </p:txBody>
      </p:sp>
      <p:sp>
        <p:nvSpPr>
          <p:cNvPr id="8" name="g3_box"/>
          <p:cNvSpPr/>
          <p:nvPr/>
        </p:nvSpPr>
        <p:spPr>
          <a:xfrm>
            <a:off x="548640" y="2880360"/>
            <a:ext cx="53949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9" name="g3_q"/>
          <p:cNvSpPr txBox="1"/>
          <p:nvPr/>
        </p:nvSpPr>
        <p:spPr>
          <a:xfrm>
            <a:off x="1691640" y="3063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 SOP、注意事項</a:t>
            </a:r>
            <a:endParaRPr lang="zh-TW" sz="1800" dirty="0"/>
          </a:p>
        </p:txBody>
      </p:sp>
      <p:sp>
        <p:nvSpPr>
          <p:cNvPr id="10" name="g4_box"/>
          <p:cNvSpPr/>
          <p:nvPr/>
        </p:nvSpPr>
        <p:spPr>
          <a:xfrm>
            <a:off x="6172200" y="2880360"/>
            <a:ext cx="53949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1" name="g4_q"/>
          <p:cNvSpPr txBox="1"/>
          <p:nvPr/>
        </p:nvSpPr>
        <p:spPr>
          <a:xfrm>
            <a:off x="7315200" y="3063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今天某床的病歷或護理紀錄</a:t>
            </a:r>
            <a:endParaRPr lang="zh-TW" sz="1800" dirty="0"/>
          </a:p>
        </p:txBody>
      </p:sp>
      <p:sp>
        <p:nvSpPr>
          <p:cNvPr id="12" name="g5_box"/>
          <p:cNvSpPr/>
          <p:nvPr/>
        </p:nvSpPr>
        <p:spPr>
          <a:xfrm>
            <a:off x="548640" y="4343400"/>
            <a:ext cx="53949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3" name="g5_q"/>
          <p:cNvSpPr txBox="1"/>
          <p:nvPr/>
        </p:nvSpPr>
        <p:spPr>
          <a:xfrm>
            <a:off x="1691640" y="4526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刪掉姓名，但留著病歷號和床號</a:t>
            </a:r>
            <a:endParaRPr lang="zh-TW" sz="1800" dirty="0"/>
          </a:p>
        </p:txBody>
      </p:sp>
      <p:sp>
        <p:nvSpPr>
          <p:cNvPr id="14" name="g6_box"/>
          <p:cNvSpPr/>
          <p:nvPr/>
        </p:nvSpPr>
        <p:spPr>
          <a:xfrm>
            <a:off x="6172200" y="4343400"/>
            <a:ext cx="53949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5" name="g6_q"/>
          <p:cNvSpPr txBox="1"/>
          <p:nvPr/>
        </p:nvSpPr>
        <p:spPr>
          <a:xfrm>
            <a:off x="7315200" y="4526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病人的心電圖或 X 光截圖</a:t>
            </a:r>
            <a:endParaRPr lang="zh-TW" sz="1800" dirty="0"/>
          </a:p>
        </p:txBody>
      </p:sp>
      <p:sp>
        <p:nvSpPr>
          <p:cNvPr id="16" name="g7_mark"/>
          <p:cNvSpPr/>
          <p:nvPr/>
        </p:nvSpPr>
        <p:spPr>
          <a:xfrm>
            <a:off x="73152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g7_icon" descr="可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374904" cy="374904"/>
          </a:xfrm>
          <a:prstGeom prst="rect">
            <a:avLst/>
          </a:prstGeom>
        </p:spPr>
      </p:pic>
      <p:sp>
        <p:nvSpPr>
          <p:cNvPr id="18" name="g7_why"/>
          <p:cNvSpPr txBox="1"/>
          <p:nvPr/>
        </p:nvSpPr>
        <p:spPr>
          <a:xfrm>
            <a:off x="1691640" y="2103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依院內規定</a:t>
            </a:r>
            <a:endParaRPr lang="zh-TW" sz="1400" dirty="0"/>
          </a:p>
        </p:txBody>
      </p:sp>
      <p:sp>
        <p:nvSpPr>
          <p:cNvPr id="19" name="g8_mark"/>
          <p:cNvSpPr/>
          <p:nvPr/>
        </p:nvSpPr>
        <p:spPr>
          <a:xfrm>
            <a:off x="635508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g8_icon" descr="可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847088"/>
            <a:ext cx="374904" cy="374904"/>
          </a:xfrm>
          <a:prstGeom prst="rect">
            <a:avLst/>
          </a:prstGeom>
        </p:spPr>
      </p:pic>
      <p:sp>
        <p:nvSpPr>
          <p:cNvPr id="21" name="g9_mark"/>
          <p:cNvSpPr/>
          <p:nvPr/>
        </p:nvSpPr>
        <p:spPr>
          <a:xfrm>
            <a:off x="731520" y="315468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g9_icon" descr="可以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10128"/>
            <a:ext cx="374904" cy="374904"/>
          </a:xfrm>
          <a:prstGeom prst="rect">
            <a:avLst/>
          </a:prstGeom>
        </p:spPr>
      </p:pic>
      <p:sp>
        <p:nvSpPr>
          <p:cNvPr id="23" name="g9_why"/>
          <p:cNvSpPr txBox="1"/>
          <p:nvPr/>
        </p:nvSpPr>
        <p:spPr>
          <a:xfrm>
            <a:off x="1691640" y="3566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依院內規定</a:t>
            </a:r>
            <a:endParaRPr lang="zh-TW" sz="1400" dirty="0"/>
          </a:p>
        </p:txBody>
      </p:sp>
      <p:sp>
        <p:nvSpPr>
          <p:cNvPr id="24" name="g10_mark"/>
          <p:cNvSpPr/>
          <p:nvPr/>
        </p:nvSpPr>
        <p:spPr>
          <a:xfrm>
            <a:off x="6355080" y="3154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g10_icon" descr="不可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310128"/>
            <a:ext cx="374904" cy="374904"/>
          </a:xfrm>
          <a:prstGeom prst="rect">
            <a:avLst/>
          </a:prstGeom>
        </p:spPr>
      </p:pic>
      <p:sp>
        <p:nvSpPr>
          <p:cNvPr id="26" name="g11_mark"/>
          <p:cNvSpPr/>
          <p:nvPr/>
        </p:nvSpPr>
        <p:spPr>
          <a:xfrm>
            <a:off x="731520" y="46177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g11_icon" descr="不可以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773168"/>
            <a:ext cx="374904" cy="374904"/>
          </a:xfrm>
          <a:prstGeom prst="rect">
            <a:avLst/>
          </a:prstGeom>
        </p:spPr>
      </p:pic>
      <p:sp>
        <p:nvSpPr>
          <p:cNvPr id="28" name="g11_why"/>
          <p:cNvSpPr txBox="1"/>
          <p:nvPr/>
        </p:nvSpPr>
        <p:spPr>
          <a:xfrm>
            <a:off x="1691640" y="50292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刪掉姓名不等於去識別化</a:t>
            </a:r>
            <a:endParaRPr lang="zh-TW" sz="1400" dirty="0"/>
          </a:p>
        </p:txBody>
      </p:sp>
      <p:sp>
        <p:nvSpPr>
          <p:cNvPr id="29" name="g12_mark"/>
          <p:cNvSpPr/>
          <p:nvPr/>
        </p:nvSpPr>
        <p:spPr>
          <a:xfrm>
            <a:off x="6355080" y="46177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g12_icon" descr="不可以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773168"/>
            <a:ext cx="374904" cy="374904"/>
          </a:xfrm>
          <a:prstGeom prst="rect">
            <a:avLst/>
          </a:prstGeom>
        </p:spPr>
      </p:pic>
      <p:sp>
        <p:nvSpPr>
          <p:cNvPr id="31" name="g12_why"/>
          <p:cNvSpPr txBox="1"/>
          <p:nvPr/>
        </p:nvSpPr>
        <p:spPr>
          <a:xfrm>
            <a:off x="7315200" y="50292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影像上可能有病人資料</a:t>
            </a:r>
            <a:endParaRPr lang="zh-TW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示範：讓 AI 自己編一個病例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6｜界線</a:t>
            </a:r>
            <a:endParaRPr lang="zh-TW" sz="14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169164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zh-TW" sz="1500" dirty="0"/>
          </a:p>
        </p:txBody>
      </p:sp>
      <p:sp>
        <p:nvSpPr>
          <p:cNvPr id="5" name="g1_prompt"/>
          <p:cNvSpPr txBox="1"/>
          <p:nvPr/>
        </p:nvSpPr>
        <p:spPr>
          <a:xfrm>
            <a:off x="1508760" y="1463040"/>
            <a:ext cx="10104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請虛構一位 CCU 病人（不用真實姓名，標示「虛構」），寫一段晨會時護理師的口頭補充，約 200 字。</a:t>
            </a:r>
            <a:endParaRPr lang="zh-TW" sz="1600" dirty="0"/>
          </a:p>
        </p:txBody>
      </p:sp>
      <p:sp>
        <p:nvSpPr>
          <p:cNvPr id="6" name="g2_num"/>
          <p:cNvSpPr txBox="1"/>
          <p:nvPr/>
        </p:nvSpPr>
        <p:spPr>
          <a:xfrm>
            <a:off x="548640" y="278892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zh-TW" sz="1500" dirty="0"/>
          </a:p>
        </p:txBody>
      </p:sp>
      <p:sp>
        <p:nvSpPr>
          <p:cNvPr id="7" name="g2_prompt"/>
          <p:cNvSpPr txBox="1"/>
          <p:nvPr/>
        </p:nvSpPr>
        <p:spPr>
          <a:xfrm>
            <a:off x="1508760" y="2651760"/>
            <a:ext cx="101041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根據這段補充，整理出：護理重點 3 點、待辦事項、需要通知醫師的事項。</a:t>
            </a:r>
            <a:endParaRPr lang="zh-TW" sz="1600" dirty="0"/>
          </a:p>
        </p:txBody>
      </p:sp>
      <p:sp>
        <p:nvSpPr>
          <p:cNvPr id="8" name="g3_tip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想練習臨床情境，就請 AI 編一個。全程不碰真的病人。</a:t>
            </a:r>
            <a:endParaRPr lang="zh-TW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進階：一句話做完好幾件事</a:t>
            </a:r>
            <a:endParaRPr lang="zh-TW" sz="3400" dirty="0"/>
          </a:p>
        </p:txBody>
      </p:sp>
      <p:sp>
        <p:nvSpPr>
          <p:cNvPr id="3" name="s_chip"/>
          <p:cNvSpPr txBox="1"/>
          <p:nvPr/>
        </p:nvSpPr>
        <p:spPr>
          <a:xfrm>
            <a:off x="9509760" y="548640"/>
            <a:ext cx="213055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7｜選修</a:t>
            </a:r>
            <a:endParaRPr lang="zh-TW" sz="14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169164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7-1</a:t>
            </a:r>
            <a:endParaRPr lang="zh-TW" sz="1500" dirty="0"/>
          </a:p>
        </p:txBody>
      </p:sp>
      <p:sp>
        <p:nvSpPr>
          <p:cNvPr id="5" name="g1_prompt"/>
          <p:cNvSpPr txBox="1"/>
          <p:nvPr/>
        </p:nvSpPr>
        <p:spPr>
          <a:xfrm>
            <a:off x="1508760" y="1463040"/>
            <a:ext cx="10104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讀這份 PDF，一次產出：(1) 12 月 CCU 值班 Excel，(2) 本月課程 Excel，(3) 一份 Word 報告列出文件中的錯誤與矛盾並附頁碼。</a:t>
            </a:r>
            <a:endParaRPr lang="zh-TW" sz="1600" dirty="0"/>
          </a:p>
        </p:txBody>
      </p:sp>
      <p:sp>
        <p:nvSpPr>
          <p:cNvPr id="6" name="g2_num"/>
          <p:cNvSpPr txBox="1"/>
          <p:nvPr/>
        </p:nvSpPr>
        <p:spPr>
          <a:xfrm>
            <a:off x="548640" y="2880360"/>
            <a:ext cx="777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7-2</a:t>
            </a:r>
            <a:endParaRPr lang="zh-TW" sz="1500" dirty="0"/>
          </a:p>
        </p:txBody>
      </p:sp>
      <p:sp>
        <p:nvSpPr>
          <p:cNvPr id="7" name="g2_prompt"/>
          <p:cNvSpPr txBox="1"/>
          <p:nvPr/>
        </p:nvSpPr>
        <p:spPr>
          <a:xfrm>
            <a:off x="1508760" y="2651760"/>
            <a:ext cx="10104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下個月我會上傳新的 PDF。把這次的檢查步驟寫成「每月檢查清單」，讓我下個月直接貼給你。</a:t>
            </a:r>
            <a:endParaRPr lang="zh-TW" sz="1600" dirty="0"/>
          </a:p>
        </p:txBody>
      </p:sp>
      <p:sp>
        <p:nvSpPr>
          <p:cNvPr id="8" name="g3_card"/>
          <p:cNvSpPr/>
          <p:nvPr/>
        </p:nvSpPr>
        <p:spPr>
          <a:xfrm>
            <a:off x="548640" y="393192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g3_circle"/>
          <p:cNvSpPr/>
          <p:nvPr/>
        </p:nvSpPr>
        <p:spPr>
          <a:xfrm>
            <a:off x="822960" y="43205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3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475988"/>
            <a:ext cx="374904" cy="374904"/>
          </a:xfrm>
          <a:prstGeom prst="rect">
            <a:avLst/>
          </a:prstGeom>
        </p:spPr>
      </p:pic>
      <p:sp>
        <p:nvSpPr>
          <p:cNvPr id="11" name="g3_txt"/>
          <p:cNvSpPr txBox="1"/>
          <p:nvPr/>
        </p:nvSpPr>
        <p:spPr>
          <a:xfrm>
            <a:off x="1783080" y="39319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好用的提示詞存起來，下個月直接用。這就是最簡單的自動化。</a:t>
            </a:r>
            <a:endParaRPr lang="zh-TW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zh-TW" alt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說清楚、要出處、要核對</a:t>
            </a:r>
            <a:endParaRPr lang="zh-TW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zh-TW" altLang="en-US" sz="22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答錯不可怕，沒核對才可怕。</a:t>
            </a:r>
            <a:endParaRPr lang="zh-TW" sz="2200" dirty="0"/>
          </a:p>
        </p:txBody>
      </p:sp>
      <p:sp>
        <p:nvSpPr>
          <p:cNvPr id="4" name="g1_more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更多練習題在課程檔最後的「課後練習」。</a:t>
            </a:r>
            <a:endParaRPr lang="zh-TW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CCU Teal">
  <a:themeElements>
    <a:clrScheme name="CCU Teal">
      <a:dk1>
        <a:srgbClr val="1F2A30"/>
      </a:dk1>
      <a:lt1>
        <a:srgbClr val="FFFFFF"/>
      </a:lt1>
      <a:dk2>
        <a:srgbClr val="0F4C5C"/>
      </a:dk2>
      <a:lt2>
        <a:srgbClr val="EAF3F3"/>
      </a:lt2>
      <a:accent1>
        <a:srgbClr val="1B7F86"/>
      </a:accent1>
      <a:accent2>
        <a:srgbClr val="D9532B"/>
      </a:accent2>
      <a:accent3>
        <a:srgbClr val="E9A23B"/>
      </a:accent3>
      <a:accent4>
        <a:srgbClr val="2E8B57"/>
      </a:accent4>
      <a:accent5>
        <a:srgbClr val="5E7178"/>
      </a:accent5>
      <a:accent6>
        <a:srgbClr val="C9DCDC"/>
      </a:accent6>
      <a:hlink>
        <a:srgbClr val="1B7F86"/>
      </a:hlink>
      <a:folHlink>
        <a:srgbClr val="5E7178"/>
      </a:folHlink>
    </a:clrScheme>
    <a:fontScheme name="CCU Teal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醫護人員 AI 實作課程</dc:title>
  <dc:subject>PptxGenJS Presentation</dc:subject>
  <dc:creator>PptxGenJS</dc:creator>
  <cp:lastModifiedBy>PptxGenJS</cp:lastModifiedBy>
  <cp:revision>1</cp:revision>
  <dcterms:created xsi:type="dcterms:W3CDTF">2026-10-27T17:58:39Z</dcterms:created>
  <dcterms:modified xsi:type="dcterms:W3CDTF">2026-10-27T17:58:39Z</dcterms:modified>
</cp:coreProperties>
</file>